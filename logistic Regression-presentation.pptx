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</p:sldIdLst>
  <p:sldSz cx="18288000" cy="10287000"/>
  <p:notesSz cx="6858000" cy="9144000"/>
  <p:embeddedFontLst>
    <p:embeddedFont>
      <p:font typeface="Clear Sans Regular" panose="020B0604020202020204" charset="0"/>
      <p:regular r:id="rId11"/>
    </p:embeddedFont>
    <p:embeddedFont>
      <p:font typeface="Clear Sans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6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63876" y="4068601"/>
            <a:ext cx="15798008" cy="5614235"/>
            <a:chOff x="-1573499" y="2325828"/>
            <a:chExt cx="21064011" cy="7485647"/>
          </a:xfrm>
        </p:grpSpPr>
        <p:sp>
          <p:nvSpPr>
            <p:cNvPr id="3" name="TextBox 3"/>
            <p:cNvSpPr txBox="1"/>
            <p:nvPr/>
          </p:nvSpPr>
          <p:spPr>
            <a:xfrm>
              <a:off x="-1573499" y="3972834"/>
              <a:ext cx="13433468" cy="13678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000"/>
                </a:lnSpc>
              </a:pPr>
              <a:r>
                <a:rPr lang="en-US" sz="6600" b="1" dirty="0" smtClean="0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Logistic Regression(ML)</a:t>
              </a:r>
              <a:endParaRPr lang="en-US" sz="6600" b="1" dirty="0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573499" y="2325828"/>
              <a:ext cx="10956112" cy="581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3200" dirty="0" smtClean="0">
                  <a:solidFill>
                    <a:srgbClr val="94DDDE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Data Science </a:t>
              </a:r>
              <a:endParaRPr lang="en-US" sz="3200" dirty="0">
                <a:solidFill>
                  <a:srgbClr val="94DDDE"/>
                </a:solidFill>
                <a:latin typeface="Clear Sans Regular"/>
                <a:ea typeface="Clear Sans Regular"/>
                <a:cs typeface="Clear Sans Regular"/>
                <a:sym typeface="Clear Sans Regula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534400" y="9054087"/>
              <a:ext cx="10956112" cy="757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 dirty="0" smtClean="0">
                  <a:solidFill>
                    <a:srgbClr val="94DDDE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meet-irfan</a:t>
              </a:r>
              <a:endParaRPr lang="en-US" sz="3399" dirty="0">
                <a:solidFill>
                  <a:srgbClr val="94DDDE"/>
                </a:solidFill>
                <a:latin typeface="Clear Sans Regular"/>
                <a:ea typeface="Clear Sans Regular"/>
                <a:cs typeface="Clear Sans Regular"/>
                <a:sym typeface="Clear Sans Regular"/>
              </a:endParaRPr>
            </a:p>
          </p:txBody>
        </p:sp>
      </p:grpSp>
      <p:sp>
        <p:nvSpPr>
          <p:cNvPr id="6" name="Freeform 6" descr="an isometric lined map"/>
          <p:cNvSpPr/>
          <p:nvPr/>
        </p:nvSpPr>
        <p:spPr>
          <a:xfrm>
            <a:off x="1182834" y="-1921745"/>
            <a:ext cx="6755642" cy="41148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an isometric lined pencil holder with pens"/>
          <p:cNvSpPr/>
          <p:nvPr/>
        </p:nvSpPr>
        <p:spPr>
          <a:xfrm>
            <a:off x="6303834" y="1790711"/>
            <a:ext cx="1194327" cy="2586142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 descr="an isometric lined laptop"/>
          <p:cNvSpPr/>
          <p:nvPr/>
        </p:nvSpPr>
        <p:spPr>
          <a:xfrm flipH="1">
            <a:off x="2095190" y="202115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 descr="an isometric lined stack of books"/>
          <p:cNvSpPr/>
          <p:nvPr/>
        </p:nvSpPr>
        <p:spPr>
          <a:xfrm>
            <a:off x="-947148" y="1264426"/>
            <a:ext cx="3144039" cy="2440918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 descr="an isometric lined potted plants"/>
          <p:cNvSpPr/>
          <p:nvPr/>
        </p:nvSpPr>
        <p:spPr>
          <a:xfrm>
            <a:off x="624872" y="5005800"/>
            <a:ext cx="1894295" cy="42525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 descr="an isometric lined group of UI application windows"/>
          <p:cNvSpPr/>
          <p:nvPr/>
        </p:nvSpPr>
        <p:spPr>
          <a:xfrm>
            <a:off x="4011803" y="7612736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n isometric lined file folder"/>
          <p:cNvSpPr/>
          <p:nvPr/>
        </p:nvSpPr>
        <p:spPr>
          <a:xfrm>
            <a:off x="1309758" y="1817226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6" y="0"/>
                </a:lnTo>
                <a:lnTo>
                  <a:pt x="3874546" y="5122595"/>
                </a:lnTo>
                <a:lnTo>
                  <a:pt x="0" y="5122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n isometric lined file folder"/>
          <p:cNvSpPr/>
          <p:nvPr/>
        </p:nvSpPr>
        <p:spPr>
          <a:xfrm>
            <a:off x="2380976" y="2607954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n isometric lined file folder"/>
          <p:cNvSpPr/>
          <p:nvPr/>
        </p:nvSpPr>
        <p:spPr>
          <a:xfrm>
            <a:off x="3495732" y="3347179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5"/>
                </a:lnTo>
                <a:lnTo>
                  <a:pt x="0" y="512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384812"/>
              </p:ext>
            </p:extLst>
          </p:nvPr>
        </p:nvGraphicFramePr>
        <p:xfrm>
          <a:off x="8627676" y="1028700"/>
          <a:ext cx="8900153" cy="9677400"/>
        </p:xfrm>
        <a:graphic>
          <a:graphicData uri="http://schemas.openxmlformats.org/drawingml/2006/table">
            <a:tbl>
              <a:tblPr/>
              <a:tblGrid>
                <a:gridCol w="8900153"/>
              </a:tblGrid>
              <a:tr h="2094657">
                <a:tc>
                  <a:txBody>
                    <a:bodyPr/>
                    <a:lstStyle/>
                    <a:p>
                      <a:pPr algn="l">
                        <a:lnSpc>
                          <a:spcPts val="11340"/>
                        </a:lnSpc>
                        <a:defRPr/>
                      </a:pPr>
                      <a:r>
                        <a:rPr lang="en-US" sz="8100" b="1" dirty="0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Agenda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8486"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94DDDE"/>
                          </a:solidFill>
                          <a:latin typeface="Clear Sans Regular"/>
                          <a:ea typeface="Clear Sans Regular"/>
                          <a:cs typeface="Clear Sans Regular"/>
                          <a:sym typeface="Clear Sans Regular"/>
                        </a:rPr>
                        <a:t>KEY TOPICS DISCUSSED IN </a:t>
                      </a:r>
                      <a:endParaRPr lang="en-US" sz="1100"/>
                    </a:p>
                    <a:p>
                      <a:pPr algn="l">
                        <a:lnSpc>
                          <a:spcPts val="4060"/>
                        </a:lnSpc>
                      </a:pPr>
                      <a:r>
                        <a:rPr lang="en-US" sz="2900">
                          <a:solidFill>
                            <a:srgbClr val="94DDDE"/>
                          </a:solidFill>
                          <a:latin typeface="Clear Sans Regular"/>
                          <a:ea typeface="Clear Sans Regular"/>
                          <a:cs typeface="Clear Sans Regular"/>
                          <a:sym typeface="Clear Sans Regular"/>
                        </a:rPr>
                        <a:t>THIS PRESENTATION</a:t>
                      </a:r>
                    </a:p>
                  </a:txBody>
                  <a:tcPr marL="190500" marR="190500" marT="190500" marB="190500" anchor="ctr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4257">
                <a:tc>
                  <a:txBody>
                    <a:bodyPr/>
                    <a:lstStyle/>
                    <a:p>
                      <a:pPr marL="626111" lvl="1" indent="-313055" algn="l">
                        <a:lnSpc>
                          <a:spcPts val="406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800" b="1" dirty="0" smtClean="0">
                          <a:solidFill>
                            <a:schemeClr val="bg1"/>
                          </a:solidFill>
                          <a:latin typeface="Clear Sans Regular"/>
                          <a:ea typeface="Clear Sans Regular"/>
                          <a:cs typeface="Clear Sans Regular"/>
                          <a:sym typeface="Clear Sans Regular"/>
                        </a:rPr>
                        <a:t>Logistic Regression</a:t>
                      </a:r>
                      <a:r>
                        <a:rPr lang="en-US" sz="2800" b="1" baseline="0" dirty="0" smtClean="0">
                          <a:solidFill>
                            <a:schemeClr val="bg1"/>
                          </a:solidFill>
                          <a:latin typeface="Clear Sans Regular"/>
                          <a:ea typeface="Clear Sans Regular"/>
                          <a:cs typeface="Clear Sans Regular"/>
                          <a:sym typeface="Clear Sans Regular"/>
                        </a:rPr>
                        <a:t> </a:t>
                      </a:r>
                    </a:p>
                    <a:p>
                      <a:pPr marL="626111" marR="0" lvl="1" indent="-313055" algn="l" defTabSz="914400" rtl="0" eaLnBrk="1" fontAlgn="auto" latinLnBrk="0" hangingPunct="1">
                        <a:lnSpc>
                          <a:spcPts val="4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Sigmoid Function</a:t>
                      </a:r>
                    </a:p>
                    <a:p>
                      <a:pPr marL="626111" marR="0" lvl="1" indent="-313055" algn="l" defTabSz="914400" rtl="0" eaLnBrk="1" fontAlgn="auto" latinLnBrk="0" hangingPunct="1">
                        <a:lnSpc>
                          <a:spcPts val="4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Cost Function</a:t>
                      </a:r>
                    </a:p>
                    <a:p>
                      <a:pPr marL="626111" marR="0" lvl="1" indent="-313055" algn="l" defTabSz="914400" rtl="0" eaLnBrk="1" fontAlgn="auto" latinLnBrk="0" hangingPunct="1">
                        <a:lnSpc>
                          <a:spcPts val="4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Optimization (Gradient Descent)</a:t>
                      </a:r>
                    </a:p>
                    <a:p>
                      <a:pPr marL="626111" marR="0" lvl="1" indent="-313055" algn="l" defTabSz="914400" rtl="0" eaLnBrk="1" fontAlgn="auto" latinLnBrk="0" hangingPunct="1">
                        <a:lnSpc>
                          <a:spcPts val="4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Conclusion</a:t>
                      </a:r>
                    </a:p>
                    <a:p>
                      <a:pPr marL="626111" marR="0" lvl="1" indent="-313055" algn="l" defTabSz="914400" rtl="0" eaLnBrk="1" fontAlgn="auto" latinLnBrk="0" hangingPunct="1">
                        <a:lnSpc>
                          <a:spcPts val="4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-US" sz="2800" b="1" i="0" kern="1200" dirty="0" smtClean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6111" marR="0" lvl="1" indent="-313055" algn="l" defTabSz="914400" rtl="0" eaLnBrk="1" fontAlgn="auto" latinLnBrk="0" hangingPunct="1">
                        <a:lnSpc>
                          <a:spcPts val="4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6111" marR="0" lvl="1" indent="-313055" algn="l" defTabSz="914400" rtl="0" eaLnBrk="1" fontAlgn="auto" latinLnBrk="0" hangingPunct="1">
                        <a:lnSpc>
                          <a:spcPts val="4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6111" lvl="1" indent="-313055" algn="l">
                        <a:lnSpc>
                          <a:spcPts val="4060"/>
                        </a:lnSpc>
                        <a:buFont typeface="Arial"/>
                        <a:buChar char="•"/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Freeform 7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537607"/>
            <a:ext cx="18288000" cy="859366"/>
          </a:xfrm>
          <a:custGeom>
            <a:avLst/>
            <a:gdLst/>
            <a:ahLst/>
            <a:cxnLst/>
            <a:rect l="l" t="t" r="r" b="b"/>
            <a:pathLst>
              <a:path w="13796730" h="648318">
                <a:moveTo>
                  <a:pt x="0" y="0"/>
                </a:moveTo>
                <a:lnTo>
                  <a:pt x="13796730" y="0"/>
                </a:lnTo>
                <a:lnTo>
                  <a:pt x="13796730" y="648318"/>
                </a:lnTo>
                <a:lnTo>
                  <a:pt x="0" y="648318"/>
                </a:lnTo>
                <a:close/>
              </a:path>
            </a:pathLst>
          </a:custGeom>
          <a:solidFill>
            <a:srgbClr val="FEFEFE"/>
          </a:solid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n isometric lined plug"/>
          <p:cNvSpPr/>
          <p:nvPr/>
        </p:nvSpPr>
        <p:spPr>
          <a:xfrm>
            <a:off x="11876152" y="3086100"/>
            <a:ext cx="5131837" cy="4114800"/>
          </a:xfrm>
          <a:custGeom>
            <a:avLst/>
            <a:gdLst/>
            <a:ahLst/>
            <a:cxnLst/>
            <a:rect l="l" t="t" r="r" b="b"/>
            <a:pathLst>
              <a:path w="5131837" h="4114800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642563"/>
            <a:ext cx="10540014" cy="6661462"/>
            <a:chOff x="0" y="85725"/>
            <a:chExt cx="14053351" cy="8881950"/>
          </a:xfrm>
        </p:grpSpPr>
        <p:sp>
          <p:nvSpPr>
            <p:cNvPr id="4" name="TextBox 4"/>
            <p:cNvSpPr txBox="1"/>
            <p:nvPr/>
          </p:nvSpPr>
          <p:spPr>
            <a:xfrm>
              <a:off x="0" y="85725"/>
              <a:ext cx="13024306" cy="1152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719"/>
                </a:lnSpc>
              </a:pPr>
              <a:r>
                <a:rPr lang="en-US" sz="6600" b="1" dirty="0" smtClean="0"/>
                <a:t>Logistic Regression</a:t>
              </a:r>
              <a:endParaRPr lang="en-US" sz="6399" dirty="0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74800" y="3013908"/>
              <a:ext cx="12478551" cy="5953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3200" dirty="0"/>
                <a:t>Supervised ML algorithm for </a:t>
              </a:r>
              <a:r>
                <a:rPr lang="en-US" sz="3200" b="1" dirty="0"/>
                <a:t>binary classification</a:t>
              </a:r>
              <a:r>
                <a:rPr lang="en-US" sz="3200" dirty="0"/>
                <a:t>.</a:t>
              </a:r>
            </a:p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3200" dirty="0"/>
                <a:t>Predicts </a:t>
              </a:r>
              <a:r>
                <a:rPr lang="en-US" sz="3200" b="1" dirty="0"/>
                <a:t>probabilities</a:t>
              </a:r>
              <a:r>
                <a:rPr lang="en-US" sz="3200" dirty="0"/>
                <a:t> (0 to 1) using a sigmoid function</a:t>
              </a:r>
              <a:r>
                <a:rPr lang="en-US" sz="3200" dirty="0" smtClean="0"/>
                <a:t>.</a:t>
              </a:r>
            </a:p>
            <a:p>
              <a:r>
                <a:rPr lang="en-US" sz="3200" dirty="0"/>
                <a:t/>
              </a:r>
              <a:br>
                <a:rPr lang="en-US" sz="3200" dirty="0"/>
              </a:br>
              <a:r>
                <a:rPr lang="en-US" sz="3200" b="1" dirty="0"/>
                <a:t>Real-world Applications</a:t>
              </a:r>
              <a:r>
                <a:rPr lang="en-US" sz="3200" dirty="0"/>
                <a:t>:</a:t>
              </a:r>
            </a:p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3200" dirty="0"/>
                <a:t>Spam detection (Spam vs. Not Spam).</a:t>
              </a:r>
            </a:p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3200" dirty="0"/>
                <a:t>Medical diagnosis (Disease vs. No Disease).</a:t>
              </a:r>
            </a:p>
            <a:p>
              <a:pPr marL="457200" indent="-457200">
                <a:buFont typeface="Wingdings" panose="05000000000000000000" pitchFamily="2" charset="2"/>
                <a:buChar char="v"/>
              </a:pPr>
              <a:r>
                <a:rPr lang="en-US" sz="3200" dirty="0"/>
                <a:t>Credit scoring (Default vs. No Default).</a:t>
              </a:r>
            </a:p>
            <a:p>
              <a:pPr marL="457200" indent="-457200" algn="l">
                <a:lnSpc>
                  <a:spcPts val="4060"/>
                </a:lnSpc>
                <a:buFont typeface="Wingdings" panose="05000000000000000000" pitchFamily="2" charset="2"/>
                <a:buChar char="v"/>
              </a:pPr>
              <a:endParaRPr lang="en-US" sz="2900" dirty="0">
                <a:solidFill>
                  <a:srgbClr val="2B4B82"/>
                </a:solidFill>
                <a:latin typeface="Clear Sans Regular"/>
                <a:ea typeface="Clear Sans Regular"/>
                <a:cs typeface="Clear Sans Regular"/>
                <a:sym typeface="Clear Sans Regular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n isometric lined open book"/>
          <p:cNvSpPr/>
          <p:nvPr/>
        </p:nvSpPr>
        <p:spPr>
          <a:xfrm>
            <a:off x="655666" y="-963412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9" y="0"/>
                </a:lnTo>
                <a:lnTo>
                  <a:pt x="4597439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n isometric lined mobile phone"/>
          <p:cNvSpPr/>
          <p:nvPr/>
        </p:nvSpPr>
        <p:spPr>
          <a:xfrm flipH="1">
            <a:off x="11207503" y="390596"/>
            <a:ext cx="2076668" cy="1276207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9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9" y="1276208"/>
                </a:lnTo>
                <a:lnTo>
                  <a:pt x="207666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n isometric lined package"/>
          <p:cNvSpPr/>
          <p:nvPr/>
        </p:nvSpPr>
        <p:spPr>
          <a:xfrm>
            <a:off x="13794348" y="-2447996"/>
            <a:ext cx="3837986" cy="41148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6" y="0"/>
                </a:lnTo>
                <a:lnTo>
                  <a:pt x="3837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an isometric lined laptop"/>
          <p:cNvSpPr/>
          <p:nvPr/>
        </p:nvSpPr>
        <p:spPr>
          <a:xfrm>
            <a:off x="5649912" y="-375920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3" y="0"/>
                </a:lnTo>
                <a:lnTo>
                  <a:pt x="5357753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656861"/>
              </p:ext>
            </p:extLst>
          </p:nvPr>
        </p:nvGraphicFramePr>
        <p:xfrm>
          <a:off x="1028700" y="2709563"/>
          <a:ext cx="16230600" cy="6755104"/>
        </p:xfrm>
        <a:graphic>
          <a:graphicData uri="http://schemas.openxmlformats.org/drawingml/2006/table">
            <a:tbl>
              <a:tblPr/>
              <a:tblGrid>
                <a:gridCol w="8115300"/>
                <a:gridCol w="8115300"/>
              </a:tblGrid>
              <a:tr h="2430387">
                <a:tc>
                  <a:txBody>
                    <a:bodyPr/>
                    <a:lstStyle/>
                    <a:p>
                      <a:pPr algn="l">
                        <a:lnSpc>
                          <a:spcPts val="6600"/>
                        </a:lnSpc>
                        <a:defRPr/>
                      </a:pPr>
                      <a:r>
                        <a:rPr lang="en-US" sz="5500" b="1" dirty="0" smtClean="0">
                          <a:solidFill>
                            <a:srgbClr val="2B4B82"/>
                          </a:solidFill>
                          <a:latin typeface="Clear Sans Bold"/>
                          <a:cs typeface="Clear Sans Bold"/>
                          <a:sym typeface="Clear Sans Bold"/>
                        </a:rPr>
                        <a:t>Why</a:t>
                      </a:r>
                      <a:r>
                        <a:rPr lang="en-US" sz="5500" b="1" baseline="0" dirty="0" smtClean="0">
                          <a:solidFill>
                            <a:srgbClr val="2B4B82"/>
                          </a:solidFill>
                          <a:latin typeface="Clear Sans Bold"/>
                          <a:cs typeface="Clear Sans Bold"/>
                          <a:sym typeface="Clear Sans Bold"/>
                        </a:rPr>
                        <a:t> Not linear Regression </a:t>
                      </a:r>
                      <a:endParaRPr lang="en-US" sz="1100" dirty="0"/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672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4717">
                <a:tc>
                  <a:txBody>
                    <a:bodyPr/>
                    <a:lstStyle/>
                    <a:p>
                      <a:r>
                        <a:rPr lang="en-US" sz="32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with Linear Regression for Classification</a:t>
                      </a: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v"/>
                      </a:pP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 is unbounded (can be &lt;0 or &gt;1).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v"/>
                      </a:pP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Sensitive to outliers.</a:t>
                      </a:r>
                    </a:p>
                    <a:p>
                      <a:pPr marL="518160" lvl="1" indent="-259080" algn="l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endParaRPr lang="en-US" sz="4000" dirty="0">
                        <a:solidFill>
                          <a:srgbClr val="2B4B82"/>
                        </a:solidFill>
                        <a:latin typeface="Clear Sans Regular"/>
                        <a:ea typeface="Clear Sans Regular"/>
                        <a:cs typeface="Clear Sans Regular"/>
                        <a:sym typeface="Clear Sans Regular"/>
                      </a:endParaRP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6280" lvl="1" indent="-457200" algn="l">
                        <a:lnSpc>
                          <a:spcPts val="3359"/>
                        </a:lnSpc>
                        <a:buFont typeface="Wingdings" panose="05000000000000000000" pitchFamily="2" charset="2"/>
                        <a:buChar char="v"/>
                        <a:defRPr/>
                      </a:pPr>
                      <a:r>
                        <a:rPr lang="en-US" sz="32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259080" lvl="1" indent="0" algn="l">
                        <a:lnSpc>
                          <a:spcPts val="3359"/>
                        </a:lnSpc>
                        <a:buFont typeface="Arial"/>
                        <a:buNone/>
                        <a:defRPr/>
                      </a:pP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Logistic Regression </a:t>
                      </a:r>
                      <a:r>
                        <a:rPr lang="en-US" sz="32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squashes</a:t>
                      </a: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output to [0,1] using sigmoid.</a:t>
                      </a:r>
                      <a:endParaRPr lang="en-US" sz="4000" dirty="0">
                        <a:solidFill>
                          <a:srgbClr val="2B4B82"/>
                        </a:solidFill>
                        <a:latin typeface="Clear Sans Regular"/>
                        <a:ea typeface="Clear Sans Regular"/>
                        <a:cs typeface="Clear Sans Regular"/>
                        <a:sym typeface="Clear Sans Regular"/>
                      </a:endParaRP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0401"/>
            <a:ext cx="18288000" cy="10297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2914" y="2482411"/>
            <a:ext cx="7391399" cy="6512273"/>
            <a:chOff x="-748063" y="85725"/>
            <a:chExt cx="9855199" cy="8683029"/>
          </a:xfrm>
        </p:grpSpPr>
        <p:sp>
          <p:nvSpPr>
            <p:cNvPr id="3" name="TextBox 3"/>
            <p:cNvSpPr txBox="1"/>
            <p:nvPr/>
          </p:nvSpPr>
          <p:spPr>
            <a:xfrm>
              <a:off x="0" y="85725"/>
              <a:ext cx="8751597" cy="3436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719"/>
                </a:lnSpc>
              </a:pPr>
              <a:r>
                <a:rPr lang="en-US" sz="66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 Sigmoid Function (Key Formula)</a:t>
              </a:r>
              <a:endPara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pPr algn="l">
                <a:lnSpc>
                  <a:spcPts val="6719"/>
                </a:lnSpc>
              </a:pPr>
              <a:endParaRPr lang="en-US" sz="6399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9237" y="3899046"/>
              <a:ext cx="8509133" cy="595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US" sz="2900" dirty="0">
                <a:solidFill>
                  <a:srgbClr val="94DDDE"/>
                </a:solidFill>
                <a:latin typeface="Clear Sans Regular"/>
                <a:ea typeface="Clear Sans Regular"/>
                <a:cs typeface="Clear Sans Regular"/>
                <a:sym typeface="Clear Sans Regula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748063" y="4494080"/>
              <a:ext cx="9855199" cy="42746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Properties</a:t>
              </a:r>
              <a:r>
                <a:rPr lang="en-US" sz="3600" dirty="0" smtClean="0">
                  <a:solidFill>
                    <a:schemeClr val="bg1"/>
                  </a:solidFill>
                </a:rPr>
                <a:t>:</a:t>
              </a:r>
            </a:p>
            <a:p>
              <a:endParaRPr lang="en-US" sz="3600" dirty="0">
                <a:solidFill>
                  <a:schemeClr val="bg1"/>
                </a:solidFill>
              </a:endParaRPr>
            </a:p>
            <a:p>
              <a:pPr marL="571500" indent="-571500">
                <a:buFont typeface="Wingdings" panose="05000000000000000000" pitchFamily="2" charset="2"/>
                <a:buChar char="v"/>
              </a:pPr>
              <a:r>
                <a:rPr lang="en-US" sz="3600" dirty="0">
                  <a:solidFill>
                    <a:schemeClr val="bg1"/>
                  </a:solidFill>
                </a:rPr>
                <a:t>S-shaped curve.</a:t>
              </a:r>
            </a:p>
            <a:p>
              <a:pPr marL="571500" indent="-571500">
                <a:buFont typeface="Wingdings" panose="05000000000000000000" pitchFamily="2" charset="2"/>
                <a:buChar char="v"/>
              </a:pPr>
              <a:r>
                <a:rPr lang="en-US" sz="3600" dirty="0">
                  <a:solidFill>
                    <a:schemeClr val="bg1"/>
                  </a:solidFill>
                </a:rPr>
                <a:t>Outputs </a:t>
              </a:r>
              <a:r>
                <a:rPr lang="en-US" sz="3600" b="1" dirty="0">
                  <a:solidFill>
                    <a:schemeClr val="bg1"/>
                  </a:solidFill>
                </a:rPr>
                <a:t>probability</a:t>
              </a:r>
              <a:r>
                <a:rPr lang="en-US" sz="3600" dirty="0">
                  <a:solidFill>
                    <a:schemeClr val="bg1"/>
                  </a:solidFill>
                </a:rPr>
                <a:t> </a:t>
              </a:r>
              <a:r>
                <a:rPr lang="en-US" sz="3600" dirty="0" smtClean="0">
                  <a:solidFill>
                    <a:schemeClr val="bg1"/>
                  </a:solidFill>
                </a:rPr>
                <a:t>P (y=1/x)</a:t>
              </a:r>
              <a:endParaRPr lang="en-US" sz="3600" dirty="0">
                <a:solidFill>
                  <a:schemeClr val="bg1"/>
                </a:solidFill>
              </a:endParaRPr>
            </a:p>
            <a:p>
              <a:pPr marL="571500" indent="-571500">
                <a:buFont typeface="Wingdings" panose="05000000000000000000" pitchFamily="2" charset="2"/>
                <a:buChar char="v"/>
              </a:pPr>
              <a:r>
                <a:rPr lang="en-US" sz="3600" dirty="0">
                  <a:solidFill>
                    <a:schemeClr val="bg1"/>
                  </a:solidFill>
                </a:rPr>
                <a:t>Threshold = 0.5 (default).</a:t>
              </a:r>
            </a:p>
            <a:p>
              <a:pPr algn="l">
                <a:lnSpc>
                  <a:spcPts val="3359"/>
                </a:lnSpc>
              </a:pPr>
              <a:endParaRPr lang="en-US" sz="3600" dirty="0">
                <a:solidFill>
                  <a:schemeClr val="bg1"/>
                </a:solidFill>
                <a:latin typeface="Clear Sans Regular"/>
                <a:ea typeface="Clear Sans Regular"/>
                <a:cs typeface="Clear Sans Regular"/>
                <a:sym typeface="Clear Sans Regular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313" y="2195748"/>
            <a:ext cx="9723955" cy="62933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person working on their computer"/>
          <p:cNvSpPr/>
          <p:nvPr/>
        </p:nvSpPr>
        <p:spPr>
          <a:xfrm>
            <a:off x="0" y="0"/>
            <a:ext cx="6912767" cy="10287000"/>
          </a:xfrm>
          <a:custGeom>
            <a:avLst/>
            <a:gdLst/>
            <a:ahLst/>
            <a:cxnLst/>
            <a:rect l="l" t="t" r="r" b="b"/>
            <a:pathLst>
              <a:path w="6912767" h="10287000">
                <a:moveTo>
                  <a:pt x="0" y="0"/>
                </a:moveTo>
                <a:lnTo>
                  <a:pt x="6912767" y="0"/>
                </a:lnTo>
                <a:lnTo>
                  <a:pt x="69127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24" r="-9699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97063" y="2429187"/>
            <a:ext cx="9162237" cy="4243922"/>
            <a:chOff x="0" y="85725"/>
            <a:chExt cx="12216316" cy="5658563"/>
          </a:xfrm>
        </p:grpSpPr>
        <p:sp>
          <p:nvSpPr>
            <p:cNvPr id="4" name="TextBox 4"/>
            <p:cNvSpPr txBox="1"/>
            <p:nvPr/>
          </p:nvSpPr>
          <p:spPr>
            <a:xfrm>
              <a:off x="0" y="85725"/>
              <a:ext cx="12216316" cy="2291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719"/>
                </a:lnSpc>
              </a:pPr>
              <a:r>
                <a:rPr lang="en-US" sz="6600" b="1" dirty="0">
                  <a:solidFill>
                    <a:schemeClr val="tx2"/>
                  </a:solidFill>
                </a:rPr>
                <a:t>Cost Function (Log Loss)</a:t>
              </a:r>
              <a:endParaRPr lang="en-US" sz="6600" dirty="0">
                <a:solidFill>
                  <a:schemeClr val="tx2"/>
                </a:solidFill>
              </a:endParaRPr>
            </a:p>
            <a:p>
              <a:pPr algn="l">
                <a:lnSpc>
                  <a:spcPts val="6719"/>
                </a:lnSpc>
              </a:pPr>
              <a:endParaRPr lang="en-US" sz="6399" b="1" dirty="0">
                <a:solidFill>
                  <a:schemeClr val="tx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059083"/>
              <a:ext cx="12216316" cy="667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60"/>
                </a:lnSpc>
              </a:pPr>
              <a:r>
                <a:rPr 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Why not MSE?</a:t>
              </a:r>
              <a:r>
                <a:rPr lang="en-US" sz="3200" dirty="0">
                  <a:solidFill>
                    <a:schemeClr val="accent1">
                      <a:lumMod val="75000"/>
                    </a:schemeClr>
                  </a:solidFill>
                </a:rPr>
                <a:t> → Non-convex for logistic regression.</a:t>
              </a:r>
              <a:endParaRPr lang="en-US" sz="2900" dirty="0">
                <a:solidFill>
                  <a:schemeClr val="accent1">
                    <a:lumMod val="75000"/>
                  </a:schemeClr>
                </a:solidFill>
                <a:latin typeface="Clear Sans Regular"/>
                <a:ea typeface="Clear Sans Regular"/>
                <a:cs typeface="Clear Sans Regular"/>
                <a:sym typeface="Clear Sans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208073"/>
              <a:ext cx="12216316" cy="536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endParaRPr lang="en-US" sz="2400" dirty="0">
                <a:solidFill>
                  <a:srgbClr val="2B4B82"/>
                </a:solidFill>
                <a:latin typeface="Clear Sans Regular"/>
                <a:ea typeface="Clear Sans Regular"/>
                <a:cs typeface="Clear Sans Regular"/>
                <a:sym typeface="Clear Sans Regular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5905500"/>
            <a:ext cx="10854219" cy="2971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n isometric lined stack of credit cards"/>
          <p:cNvSpPr/>
          <p:nvPr/>
        </p:nvSpPr>
        <p:spPr>
          <a:xfrm>
            <a:off x="12443088" y="-1095217"/>
            <a:ext cx="6414740" cy="6631780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7200" y="1990329"/>
            <a:ext cx="11855440" cy="1718419"/>
            <a:chOff x="-651947" y="1554319"/>
            <a:chExt cx="15807253" cy="2291226"/>
          </a:xfrm>
        </p:grpSpPr>
        <p:sp>
          <p:nvSpPr>
            <p:cNvPr id="4" name="TextBox 4"/>
            <p:cNvSpPr txBox="1"/>
            <p:nvPr/>
          </p:nvSpPr>
          <p:spPr>
            <a:xfrm>
              <a:off x="-651947" y="1554319"/>
              <a:ext cx="15807253" cy="22912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719"/>
                </a:lnSpc>
              </a:pPr>
              <a:r>
                <a:rPr lang="en-US" sz="6600" b="1" dirty="0">
                  <a:solidFill>
                    <a:schemeClr val="tx2"/>
                  </a:solidFill>
                </a:rPr>
                <a:t>Optimization (Gradient Descent)</a:t>
              </a:r>
              <a:endParaRPr lang="en-US" sz="6600" dirty="0">
                <a:solidFill>
                  <a:schemeClr val="tx2"/>
                </a:solidFill>
              </a:endParaRPr>
            </a:p>
            <a:p>
              <a:pPr algn="l">
                <a:lnSpc>
                  <a:spcPts val="6719"/>
                </a:lnSpc>
              </a:pPr>
              <a:endParaRPr lang="en-US" sz="6399" b="1" dirty="0">
                <a:solidFill>
                  <a:schemeClr val="tx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78025"/>
              <a:ext cx="12759220" cy="646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60"/>
                </a:lnSpc>
              </a:pPr>
              <a:endParaRPr lang="en-US" sz="2900" dirty="0">
                <a:solidFill>
                  <a:srgbClr val="2B4B82"/>
                </a:solidFill>
                <a:latin typeface="Clear Sans Regular"/>
                <a:ea typeface="Clear Sans Regular"/>
                <a:cs typeface="Clear Sans Regular"/>
                <a:sym typeface="Clear Sans Regular"/>
              </a:endParaRPr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048473"/>
              </p:ext>
            </p:extLst>
          </p:nvPr>
        </p:nvGraphicFramePr>
        <p:xfrm>
          <a:off x="457200" y="3708748"/>
          <a:ext cx="5437713" cy="3413586"/>
        </p:xfrm>
        <a:graphic>
          <a:graphicData uri="http://schemas.openxmlformats.org/drawingml/2006/table">
            <a:tbl>
              <a:tblPr/>
              <a:tblGrid>
                <a:gridCol w="5437713"/>
              </a:tblGrid>
              <a:tr h="1571297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3200" b="1" i="0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Goal: Minimize </a:t>
                      </a:r>
                      <a:r>
                        <a:rPr lang="en-US" sz="32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J(θ)</a:t>
                      </a:r>
                      <a:r>
                        <a:rPr lang="en-US" sz="3200" b="1" i="0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by </a:t>
                      </a:r>
                    </a:p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3200" b="1" i="0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updating weights </a:t>
                      </a:r>
                      <a:r>
                        <a:rPr lang="en-US" sz="32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θ</a:t>
                      </a:r>
                      <a:endParaRPr lang="en-US" sz="4000" b="1" dirty="0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b">
                    <a:lnL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2289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endParaRPr lang="en-US" sz="2400" dirty="0">
                        <a:solidFill>
                          <a:srgbClr val="2B4B82"/>
                        </a:solidFill>
                        <a:latin typeface="Clear Sans Regular"/>
                        <a:ea typeface="Clear Sans Regular"/>
                        <a:cs typeface="Clear Sans Regular"/>
                        <a:sym typeface="Clear Sans Regular"/>
                      </a:endParaRPr>
                    </a:p>
                  </a:txBody>
                  <a:tcPr marL="190500" marR="190500" marT="190500" marB="190500" anchor="b">
                    <a:lnL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" y="6541157"/>
            <a:ext cx="8308961" cy="31783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386" y="3622187"/>
            <a:ext cx="9931054" cy="58379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n isometric lined group of speech bubbles"/>
          <p:cNvSpPr/>
          <p:nvPr/>
        </p:nvSpPr>
        <p:spPr>
          <a:xfrm>
            <a:off x="1851762" y="1468613"/>
            <a:ext cx="3489749" cy="2861594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4"/>
                </a:lnTo>
                <a:lnTo>
                  <a:pt x="0" y="286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n isometric lined teacup and saucer"/>
          <p:cNvSpPr/>
          <p:nvPr/>
        </p:nvSpPr>
        <p:spPr>
          <a:xfrm>
            <a:off x="1490793" y="4703587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527031"/>
              </p:ext>
            </p:extLst>
          </p:nvPr>
        </p:nvGraphicFramePr>
        <p:xfrm>
          <a:off x="7122707" y="4076700"/>
          <a:ext cx="10172153" cy="3909060"/>
        </p:xfrm>
        <a:graphic>
          <a:graphicData uri="http://schemas.openxmlformats.org/drawingml/2006/table">
            <a:tbl>
              <a:tblPr/>
              <a:tblGrid>
                <a:gridCol w="10172153"/>
              </a:tblGrid>
              <a:tr h="1509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67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dirty="0" smtClean="0">
                          <a:solidFill>
                            <a:srgbClr val="2B4B82"/>
                          </a:solidFill>
                          <a:latin typeface="Clear Sans Bold"/>
                          <a:cs typeface="Clear Sans Bold"/>
                          <a:sym typeface="Clear Sans Bold"/>
                        </a:rPr>
                        <a:t>Conclusion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67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800" b="1" dirty="0" smtClean="0">
                        <a:solidFill>
                          <a:srgbClr val="2B4B82"/>
                        </a:solidFill>
                        <a:latin typeface="Clear Sans Bold"/>
                        <a:cs typeface="Clear Sans Bold"/>
                        <a:sym typeface="Clear Sans Bold"/>
                      </a:endParaRPr>
                    </a:p>
                    <a:p>
                      <a:pPr marL="457200" indent="-457200">
                        <a:buFont typeface="Wingdings" panose="05000000000000000000" pitchFamily="2" charset="2"/>
                        <a:buChar char="v"/>
                      </a:pP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 regression = Probability + Classification.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v"/>
                      </a:pP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sigmoid, log loss, and gradient descent.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67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97</Words>
  <Application>Microsoft Office PowerPoint</Application>
  <PresentationFormat>Custom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Clear Sans Regular</vt:lpstr>
      <vt:lpstr>Wingdings</vt:lpstr>
      <vt:lpstr>Arial</vt:lpstr>
      <vt:lpstr>Clear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cp:lastModifiedBy>Microsoft account</cp:lastModifiedBy>
  <cp:revision>15</cp:revision>
  <dcterms:created xsi:type="dcterms:W3CDTF">2006-08-16T00:00:00Z</dcterms:created>
  <dcterms:modified xsi:type="dcterms:W3CDTF">2025-04-18T05:55:13Z</dcterms:modified>
  <dc:identifier>DAGk6hLiSgg</dc:identifier>
</cp:coreProperties>
</file>